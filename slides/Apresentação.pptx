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77554e17e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77554e17e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77554e17e_3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77554e17e_3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77554e17e_3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77554e17e_3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77554e17e_3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77554e17e_3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77554e17e_3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77554e17e_3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77554e17e_3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77554e17e_3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77554e17e_3_3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77554e17e_3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4" name="Google Shape;84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G">
  <p:cSld name="TITLE_AND_BODY_2_1_1_1_1_1_1_1_1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/>
          <p:nvPr>
            <p:ph idx="2" type="pic"/>
          </p:nvPr>
        </p:nvSpPr>
        <p:spPr>
          <a:xfrm>
            <a:off x="507438" y="15345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4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Aprendizagem de M</a:t>
            </a:r>
            <a:r>
              <a:rPr lang="pt-BR"/>
              <a:t>áquina</a:t>
            </a:r>
            <a:endParaRPr/>
          </a:p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Apresentaç</a:t>
            </a:r>
            <a:r>
              <a:rPr lang="pt-BR"/>
              <a:t>ão da disciplina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0"/>
          <p:cNvGrpSpPr/>
          <p:nvPr/>
        </p:nvGrpSpPr>
        <p:grpSpPr>
          <a:xfrm>
            <a:off x="3796923" y="665249"/>
            <a:ext cx="4998597" cy="4370557"/>
            <a:chOff x="-100" y="2539"/>
            <a:chExt cx="6159700" cy="5385776"/>
          </a:xfrm>
        </p:grpSpPr>
        <p:sp>
          <p:nvSpPr>
            <p:cNvPr id="121" name="Google Shape;121;p20"/>
            <p:cNvSpPr/>
            <p:nvPr/>
          </p:nvSpPr>
          <p:spPr>
            <a:xfrm>
              <a:off x="0" y="4763115"/>
              <a:ext cx="6159600" cy="625200"/>
            </a:xfrm>
            <a:prstGeom prst="rect">
              <a:avLst/>
            </a:prstGeom>
            <a:solidFill>
              <a:srgbClr val="FA9A42"/>
            </a:solidFill>
            <a:ln cap="flat" cmpd="sng" w="154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0"/>
            <p:cNvSpPr txBox="1"/>
            <p:nvPr/>
          </p:nvSpPr>
          <p:spPr>
            <a:xfrm>
              <a:off x="0" y="4763115"/>
              <a:ext cx="6159600" cy="6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475" lIns="63475" spcFirstLastPara="1" rIns="63475" wrap="square" tIns="63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93"/>
                <a:buFont typeface="Arial"/>
                <a:buNone/>
              </a:pPr>
              <a:r>
                <a:rPr b="0" i="0" lang="pt-BR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Unificada é um ponto extra</a:t>
              </a:r>
              <a:endParaRPr b="0" i="0" sz="89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0"/>
            <p:cNvSpPr/>
            <p:nvPr/>
          </p:nvSpPr>
          <p:spPr>
            <a:xfrm rot="10800000">
              <a:off x="-100" y="3810992"/>
              <a:ext cx="6159600" cy="9615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A9A42"/>
            </a:solidFill>
            <a:ln cap="flat" cmpd="sng" w="154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0"/>
            <p:cNvSpPr txBox="1"/>
            <p:nvPr/>
          </p:nvSpPr>
          <p:spPr>
            <a:xfrm>
              <a:off x="0" y="3811002"/>
              <a:ext cx="6159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475" lIns="63475" spcFirstLastPara="1" rIns="63475" wrap="square" tIns="63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93"/>
                <a:buFont typeface="Arial"/>
                <a:buNone/>
              </a:pPr>
              <a:r>
                <a:rPr b="0" i="0" lang="pt-BR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Projeto Interdisciplinar vale 20%</a:t>
              </a:r>
              <a:endParaRPr b="0" i="0" sz="89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20"/>
            <p:cNvSpPr/>
            <p:nvPr/>
          </p:nvSpPr>
          <p:spPr>
            <a:xfrm rot="10800000">
              <a:off x="-100" y="2858879"/>
              <a:ext cx="6159600" cy="9615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A9A42"/>
            </a:solidFill>
            <a:ln cap="flat" cmpd="sng" w="154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0"/>
            <p:cNvSpPr txBox="1"/>
            <p:nvPr/>
          </p:nvSpPr>
          <p:spPr>
            <a:xfrm>
              <a:off x="0" y="2858889"/>
              <a:ext cx="6159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475" lIns="63475" spcFirstLastPara="1" rIns="63475" wrap="square" tIns="63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93"/>
                <a:buFont typeface="Arial"/>
                <a:buNone/>
              </a:pPr>
              <a:r>
                <a:rPr b="0" i="0" lang="pt-BR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Atividades da disciplina equivalem a 80% da nota</a:t>
              </a:r>
              <a:endParaRPr b="0" i="0" sz="89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0"/>
            <p:cNvSpPr/>
            <p:nvPr/>
          </p:nvSpPr>
          <p:spPr>
            <a:xfrm rot="10800000">
              <a:off x="-100" y="1906766"/>
              <a:ext cx="6159600" cy="9615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A9A42"/>
            </a:solidFill>
            <a:ln cap="flat" cmpd="sng" w="154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0" y="1906776"/>
              <a:ext cx="6159600" cy="33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475" lIns="63475" spcFirstLastPara="1" rIns="63475" wrap="square" tIns="63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93"/>
                <a:buFont typeface="Arial"/>
                <a:buNone/>
              </a:pPr>
              <a:r>
                <a:rPr b="0" i="0" lang="pt-BR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Substitutiva 5 pontos</a:t>
              </a:r>
              <a:endParaRPr b="0" i="0" sz="89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20"/>
            <p:cNvSpPr/>
            <p:nvPr/>
          </p:nvSpPr>
          <p:spPr>
            <a:xfrm>
              <a:off x="0" y="2244259"/>
              <a:ext cx="6159600" cy="287400"/>
            </a:xfrm>
            <a:prstGeom prst="rect">
              <a:avLst/>
            </a:prstGeom>
            <a:solidFill>
              <a:srgbClr val="FCDDCC">
                <a:alpha val="90200"/>
              </a:srgbClr>
            </a:solidFill>
            <a:ln cap="flat" cmpd="sng" w="10300">
              <a:solidFill>
                <a:srgbClr val="FCDDCC">
                  <a:alpha val="90200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20"/>
            <p:cNvSpPr txBox="1"/>
            <p:nvPr/>
          </p:nvSpPr>
          <p:spPr>
            <a:xfrm>
              <a:off x="0" y="2244259"/>
              <a:ext cx="6159600" cy="28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7500" lIns="98100" spcFirstLastPara="1" rIns="98100" wrap="square" tIns="17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80"/>
                <a:buFont typeface="Arial"/>
                <a:buNone/>
              </a:pPr>
              <a:r>
                <a:rPr b="0" i="0" lang="pt-BR" sz="138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Troca a menor nota bimestral</a:t>
              </a:r>
              <a:endParaRPr b="0" i="0" sz="13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 rot="10800000">
              <a:off x="-100" y="954653"/>
              <a:ext cx="6159600" cy="9615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A9A42"/>
            </a:solidFill>
            <a:ln cap="flat" cmpd="sng" w="154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20"/>
            <p:cNvSpPr txBox="1"/>
            <p:nvPr/>
          </p:nvSpPr>
          <p:spPr>
            <a:xfrm>
              <a:off x="0" y="954663"/>
              <a:ext cx="6159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475" lIns="63475" spcFirstLastPara="1" rIns="63475" wrap="square" tIns="63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93"/>
                <a:buFont typeface="Arial"/>
                <a:buNone/>
              </a:pPr>
              <a:r>
                <a:rPr b="0" i="0" lang="pt-BR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Trabalho 1 ponto</a:t>
              </a:r>
              <a:endParaRPr b="0" i="0" sz="89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 rot="10800000">
              <a:off x="-100" y="2539"/>
              <a:ext cx="6159600" cy="961500"/>
            </a:xfrm>
            <a:prstGeom prst="upArrowCallout">
              <a:avLst>
                <a:gd fmla="val 25000" name="adj1"/>
                <a:gd fmla="val 25000" name="adj2"/>
                <a:gd fmla="val 25000" name="adj3"/>
                <a:gd fmla="val 64977" name="adj4"/>
              </a:avLst>
            </a:prstGeom>
            <a:solidFill>
              <a:srgbClr val="FA9A42"/>
            </a:solidFill>
            <a:ln cap="flat" cmpd="sng" w="1545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74200" lIns="74200" spcFirstLastPara="1" rIns="74200" wrap="square" tIns="74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20"/>
            <p:cNvSpPr txBox="1"/>
            <p:nvPr/>
          </p:nvSpPr>
          <p:spPr>
            <a:xfrm>
              <a:off x="0" y="2549"/>
              <a:ext cx="6159600" cy="6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475" lIns="63475" spcFirstLastPara="1" rIns="63475" wrap="square" tIns="63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893"/>
                <a:buFont typeface="Arial"/>
                <a:buNone/>
              </a:pPr>
              <a:r>
                <a:rPr b="0" i="0" lang="pt-BR" sz="893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Provas valem 4 pontos</a:t>
              </a:r>
              <a:endParaRPr b="0" i="0" sz="893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2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Avaliações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pt-BR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Fórmula</a:t>
            </a:r>
            <a:endParaRPr sz="3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\text{Se } M &lt; 6, \quad M = &#10;\begin{cases} &#10;   (P1 + T1 + P3) \cdot 0.8 + PI \cdot 0.2 + UNI &amp; \text{se } (P2 + T2 &lt; P1 + T1) \\&#10;   (P2 + T2 + P3) \cdot 0.8 + PI \cdot 0.2 + UNI &amp; \text{se } (P2 + T2 &gt; P1 + T1)&#10;\end{cases}&#10;%844c84e0-32c4-4c63-abf2-de3f7a65b06e"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113" y="2885400"/>
            <a:ext cx="8253078" cy="535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 = (P1+T1+P2+T2)*0.8+PI*0.2+UNI&#10;%dba98c08-c363-40df-a116-0fd98c486689"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9000" y="2231513"/>
            <a:ext cx="602932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